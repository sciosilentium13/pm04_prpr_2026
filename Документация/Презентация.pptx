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01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AE6733-B7E3-424D-9816-2A49899E3915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ED7B7-5E05-47D3-A199-05B074EA2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1503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1C5F337-B690-48AE-95B1-756361D56B45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B776-356E-4AEE-A2DA-D5406F986983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5901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5F337-B690-48AE-95B1-756361D56B45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B776-356E-4AEE-A2DA-D5406F986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8292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5F337-B690-48AE-95B1-756361D56B45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B776-356E-4AEE-A2DA-D5406F986983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2655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5F337-B690-48AE-95B1-756361D56B45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B776-356E-4AEE-A2DA-D5406F986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5827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5F337-B690-48AE-95B1-756361D56B45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B776-356E-4AEE-A2DA-D5406F986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2991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5F337-B690-48AE-95B1-756361D56B45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B776-356E-4AEE-A2DA-D5406F986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801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5F337-B690-48AE-95B1-756361D56B45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B776-356E-4AEE-A2DA-D5406F986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7485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5F337-B690-48AE-95B1-756361D56B45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B776-356E-4AEE-A2DA-D5406F986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47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5F337-B690-48AE-95B1-756361D56B45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B776-356E-4AEE-A2DA-D5406F986983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1707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5F337-B690-48AE-95B1-756361D56B45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B776-356E-4AEE-A2DA-D5406F9869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87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5F337-B690-48AE-95B1-756361D56B45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4BB776-356E-4AEE-A2DA-D5406F986983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81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1C5F337-B690-48AE-95B1-756361D56B45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24BB776-356E-4AEE-A2DA-D5406F986983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1941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07C207-7D7B-41A3-CDC9-15D005ED3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668" y="4960137"/>
            <a:ext cx="8128932" cy="146304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Производственная практика</a:t>
            </a:r>
            <a:br>
              <a:rPr lang="ru-RU" dirty="0"/>
            </a:br>
            <a:r>
              <a:rPr lang="ru-RU" sz="2800" dirty="0"/>
              <a:t>Пестов Арсений Николаевич</a:t>
            </a:r>
            <a:endParaRPr lang="ru-RU" b="1" i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2AF065C-A39A-F20F-5A3F-71E16FF57B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54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ПМ. </a:t>
            </a:r>
            <a:r>
              <a:rPr lang="ru-RU" sz="5400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04</a:t>
            </a:r>
            <a:r>
              <a:rPr lang="ru-RU" sz="54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5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DBD012-E808-FEC8-508A-CDA3CCD760A4}"/>
              </a:ext>
            </a:extLst>
          </p:cNvPr>
          <p:cNvSpPr txBox="1"/>
          <p:nvPr/>
        </p:nvSpPr>
        <p:spPr>
          <a:xfrm>
            <a:off x="0" y="33556"/>
            <a:ext cx="12192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600" dirty="0">
                <a:solidFill>
                  <a:schemeClr val="accent3"/>
                </a:solidFill>
                <a:highlight>
                  <a:srgbClr val="000000"/>
                </a:highlight>
              </a:rPr>
              <a:t>Сопровождение и обслуживание программного обеспечения компьютерных систем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07AA4D-D2DD-FD06-1044-E31116E962DA}"/>
              </a:ext>
            </a:extLst>
          </p:cNvPr>
          <p:cNvSpPr txBox="1"/>
          <p:nvPr/>
        </p:nvSpPr>
        <p:spPr>
          <a:xfrm>
            <a:off x="89483" y="3329190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highlight>
                  <a:srgbClr val="008000"/>
                </a:highlight>
              </a:rPr>
              <a:t>Руководитель практики от организации: </a:t>
            </a:r>
            <a:r>
              <a:rPr lang="ru-RU" sz="2400" dirty="0" err="1">
                <a:solidFill>
                  <a:schemeClr val="bg1"/>
                </a:solidFill>
                <a:highlight>
                  <a:srgbClr val="008000"/>
                </a:highlight>
              </a:rPr>
              <a:t>Зязин</a:t>
            </a:r>
            <a:r>
              <a:rPr lang="ru-RU" sz="2400" dirty="0">
                <a:solidFill>
                  <a:schemeClr val="bg1"/>
                </a:solidFill>
                <a:highlight>
                  <a:srgbClr val="008000"/>
                </a:highlight>
              </a:rPr>
              <a:t> Сергей Валерьевич</a:t>
            </a:r>
          </a:p>
          <a:p>
            <a:r>
              <a:rPr lang="ru-RU" sz="2400" dirty="0">
                <a:solidFill>
                  <a:schemeClr val="bg1"/>
                </a:solidFill>
                <a:highlight>
                  <a:srgbClr val="008000"/>
                </a:highlight>
              </a:rPr>
              <a:t>Руководитель практики от колледжа: Калинин Арсений Олегович</a:t>
            </a:r>
          </a:p>
          <a:p>
            <a:r>
              <a:rPr lang="ru-RU" sz="2400" dirty="0">
                <a:solidFill>
                  <a:schemeClr val="bg1"/>
                </a:solidFill>
                <a:highlight>
                  <a:srgbClr val="008000"/>
                </a:highlight>
              </a:rPr>
              <a:t>Год: 2026г.</a:t>
            </a:r>
          </a:p>
        </p:txBody>
      </p:sp>
    </p:spTree>
    <p:extLst>
      <p:ext uri="{BB962C8B-B14F-4D97-AF65-F5344CB8AC3E}">
        <p14:creationId xmlns:p14="http://schemas.microsoft.com/office/powerpoint/2010/main" val="1069751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2A7EC9-71F2-3956-CD2C-99E733DF3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11167872" cy="1499616"/>
          </a:xfrm>
        </p:spPr>
        <p:txBody>
          <a:bodyPr>
            <a:noAutofit/>
          </a:bodyPr>
          <a:lstStyle/>
          <a:p>
            <a:r>
              <a:rPr lang="ru-RU" sz="4800" dirty="0"/>
              <a:t>Характеристика объекта практики</a:t>
            </a:r>
          </a:p>
        </p:txBody>
      </p:sp>
      <p:sp>
        <p:nvSpPr>
          <p:cNvPr id="25" name="Rectangle 18">
            <a:extLst>
              <a:ext uri="{FF2B5EF4-FFF2-40B4-BE49-F238E27FC236}">
                <a16:creationId xmlns:a16="http://schemas.microsoft.com/office/drawing/2014/main" id="{B7ED6A62-0CDD-9930-4B4F-C17403CC9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350455-A680-58F0-2CC7-7816E01E4F3C}"/>
              </a:ext>
            </a:extLst>
          </p:cNvPr>
          <p:cNvSpPr txBox="1"/>
          <p:nvPr/>
        </p:nvSpPr>
        <p:spPr>
          <a:xfrm>
            <a:off x="365286" y="4445999"/>
            <a:ext cx="1131465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sz="2000" b="1" dirty="0"/>
              <a:t>Состав программного и технического обеспечения, имеющегося на предприятии: 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/>
              <a:t>Операционная система</a:t>
            </a:r>
            <a:r>
              <a:rPr lang="ru-RU" sz="2000" b="1" dirty="0"/>
              <a:t>:</a:t>
            </a:r>
            <a:r>
              <a:rPr lang="ru-RU" sz="2000" dirty="0"/>
              <a:t> Windows 10 Pro. 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/>
              <a:t>1С:Предприятие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/>
              <a:t>Антивирус </a:t>
            </a:r>
            <a:r>
              <a:rPr lang="ru-RU" sz="2000" dirty="0" err="1"/>
              <a:t>ClamAV</a:t>
            </a:r>
            <a:r>
              <a:rPr lang="ru-RU" sz="2000" dirty="0"/>
              <a:t> 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/>
              <a:t>Дополнительное ПО</a:t>
            </a:r>
            <a:r>
              <a:rPr lang="ru-RU" sz="2000" b="1" dirty="0"/>
              <a:t>:</a:t>
            </a:r>
            <a:r>
              <a:rPr lang="ru-RU" sz="2000" dirty="0"/>
              <a:t> Total Commander, </a:t>
            </a:r>
            <a:r>
              <a:rPr lang="ru-RU" sz="2000" dirty="0" err="1"/>
              <a:t>IrfanView</a:t>
            </a:r>
            <a:r>
              <a:rPr lang="ru-RU" sz="2000" dirty="0"/>
              <a:t>, Firefox.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000" dirty="0"/>
              <a:t>Техническое обеспечение</a:t>
            </a:r>
            <a:r>
              <a:rPr lang="ru-RU" sz="2000" b="1" dirty="0"/>
              <a:t>:</a:t>
            </a:r>
            <a:r>
              <a:rPr lang="ru-RU" sz="2000" dirty="0"/>
              <a:t> компьютеры (Intel Core i3/i5, 8 ГБ ОЗУ), принтеры.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C45B59-B760-EB31-758A-C1D3AE0BAC9B}"/>
              </a:ext>
            </a:extLst>
          </p:cNvPr>
          <p:cNvSpPr txBox="1"/>
          <p:nvPr/>
        </p:nvSpPr>
        <p:spPr>
          <a:xfrm>
            <a:off x="365285" y="2017719"/>
            <a:ext cx="1131465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Объектом практики является отдел социального развития администрации города Слободского. </a:t>
            </a:r>
          </a:p>
          <a:p>
            <a:r>
              <a:rPr lang="ru-RU" sz="2000" b="1" dirty="0"/>
              <a:t>Юридический адрес:</a:t>
            </a:r>
            <a:r>
              <a:rPr lang="ru-RU" sz="2000" dirty="0"/>
              <a:t> ул. Советская, 86, Слободской, Кировская обл., 613150.</a:t>
            </a:r>
            <a:r>
              <a:rPr lang="ru-RU" sz="2000" b="1" dirty="0"/>
              <a:t> </a:t>
            </a:r>
            <a:endParaRPr lang="ru-RU" sz="2000" dirty="0"/>
          </a:p>
          <a:p>
            <a:r>
              <a:rPr lang="ru-RU" sz="2000" b="1" dirty="0"/>
              <a:t>Специализация отдела:</a:t>
            </a:r>
            <a:r>
              <a:rPr lang="ru-RU" sz="2000" dirty="0"/>
              <a:t> организация социальной поддержки граждан, назначение пособий, работа с льготными категориями, ведение базы получателей социальных услуг.</a:t>
            </a:r>
          </a:p>
          <a:p>
            <a:r>
              <a:rPr lang="ru-RU" sz="2000" b="1" dirty="0"/>
              <a:t>Структура отдела:</a:t>
            </a:r>
            <a:r>
              <a:rPr lang="ru-RU" sz="2000" dirty="0"/>
              <a:t> руководитель отдела, несколько специалистов по направлениям (социальные выплаты, работа с пожилыми, поддержка семей с детьми), бухгалтерия, системный администратор. Всего около 10–15 сотрудников.</a:t>
            </a:r>
          </a:p>
        </p:txBody>
      </p:sp>
    </p:spTree>
    <p:extLst>
      <p:ext uri="{BB962C8B-B14F-4D97-AF65-F5344CB8AC3E}">
        <p14:creationId xmlns:p14="http://schemas.microsoft.com/office/powerpoint/2010/main" val="1851229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5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50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500"/>
                            </p:stCondLst>
                            <p:childTnLst>
                              <p:par>
                                <p:cTn id="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9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F8079BA-2D2D-2646-BFF0-A07557DEE3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" t="452" b="565"/>
          <a:stretch/>
        </p:blipFill>
        <p:spPr>
          <a:xfrm>
            <a:off x="3620382" y="2477033"/>
            <a:ext cx="3283065" cy="27171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6BB29-3D57-DEC4-DB13-686032F23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dirty="0"/>
              <a:t>Установить предложенное программное обеспечение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1DAC46C-5039-D414-8D75-5F6A101164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0" t="679" r="-1" b="850"/>
          <a:stretch/>
        </p:blipFill>
        <p:spPr>
          <a:xfrm>
            <a:off x="7070438" y="2477033"/>
            <a:ext cx="5062091" cy="27171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CEEE33B-6C48-01E6-56CD-6AB9D3EEE602}"/>
              </a:ext>
            </a:extLst>
          </p:cNvPr>
          <p:cNvSpPr txBox="1"/>
          <p:nvPr/>
        </p:nvSpPr>
        <p:spPr>
          <a:xfrm>
            <a:off x="0" y="5587068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Установка веб-сервера </a:t>
            </a:r>
            <a:r>
              <a:rPr lang="en-US" sz="2800" dirty="0" err="1"/>
              <a:t>Laragon</a:t>
            </a:r>
            <a:r>
              <a:rPr lang="en-US" sz="2800" dirty="0"/>
              <a:t> </a:t>
            </a:r>
            <a:r>
              <a:rPr lang="ru-RU" sz="2800" dirty="0"/>
              <a:t> 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4809180-9C9A-B511-440C-873ACD4C6C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74" t="2222"/>
          <a:stretch/>
        </p:blipFill>
        <p:spPr>
          <a:xfrm>
            <a:off x="170327" y="2477033"/>
            <a:ext cx="3283064" cy="26736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60340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7FBC39-13AF-6980-2F6A-9A591A489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dirty="0"/>
              <a:t>Установить предложенное программное обеспечение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B058B0B-40DA-3F2C-A7DA-2CD40E039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68" y="1964895"/>
            <a:ext cx="4430043" cy="26495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C98F6B6-37BB-74EA-1E81-A86818196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614" y="3221794"/>
            <a:ext cx="4255350" cy="25324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FF0EB6-AF7D-FFC0-F13E-9EC8F15D5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366" y="1964895"/>
            <a:ext cx="5243320" cy="26495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3EDA79B-0E20-E3F1-BBCE-84E16F657E4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3" t="850" b="810"/>
          <a:stretch/>
        </p:blipFill>
        <p:spPr>
          <a:xfrm>
            <a:off x="7728506" y="3189258"/>
            <a:ext cx="4255350" cy="25650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BBA41C9-A32C-040A-E735-43AC64401875}"/>
              </a:ext>
            </a:extLst>
          </p:cNvPr>
          <p:cNvSpPr txBox="1"/>
          <p:nvPr/>
        </p:nvSpPr>
        <p:spPr>
          <a:xfrm>
            <a:off x="0" y="6180397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Установка </a:t>
            </a:r>
            <a:r>
              <a:rPr lang="en-US" sz="2400" dirty="0"/>
              <a:t>Moodle </a:t>
            </a:r>
            <a:r>
              <a:rPr lang="ru-RU" sz="2400" dirty="0"/>
              <a:t>и </a:t>
            </a:r>
            <a:r>
              <a:rPr lang="en-US" sz="2400" dirty="0"/>
              <a:t>WordPress </a:t>
            </a:r>
            <a:r>
              <a:rPr lang="ru-RU" sz="2400" dirty="0"/>
              <a:t>на веб-сервере </a:t>
            </a:r>
            <a:r>
              <a:rPr lang="en-US" sz="2400" dirty="0" err="1"/>
              <a:t>Laragon</a:t>
            </a:r>
            <a:r>
              <a:rPr lang="en-US" sz="2400" dirty="0"/>
              <a:t> </a:t>
            </a:r>
            <a:r>
              <a:rPr lang="ru-RU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115210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50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9A2A2B-EBD3-66DF-75E2-9C2134054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400" dirty="0"/>
              <a:t>Установить предложенное программное обеспечение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670A34-A51A-65E2-4714-8B67C18D0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798" y="1936920"/>
            <a:ext cx="4027591" cy="30848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0F4E50B-1D65-65B9-5F7F-8BB35EB50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1070" y="3599008"/>
            <a:ext cx="3727510" cy="29722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9E7D900-C9B9-F388-13BC-697F692CBA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43" y="3164676"/>
            <a:ext cx="1125150" cy="34065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9659F3B-5264-BE9A-63EC-13EC96C6C5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7268" y="405969"/>
            <a:ext cx="3120778" cy="24462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9DAD92D-F578-B33B-066A-5842834882F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986319" y="3422889"/>
            <a:ext cx="3956225" cy="28247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F2ADC75-7A74-661E-7EA8-BDD81A320ACC}"/>
              </a:ext>
            </a:extLst>
          </p:cNvPr>
          <p:cNvSpPr txBox="1"/>
          <p:nvPr/>
        </p:nvSpPr>
        <p:spPr>
          <a:xfrm>
            <a:off x="4899171" y="2146645"/>
            <a:ext cx="27366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Установка 1С:Предприятие и создание конфигураций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E68291-C621-9A37-DBA9-7AA152B611EC}"/>
              </a:ext>
            </a:extLst>
          </p:cNvPr>
          <p:cNvSpPr txBox="1"/>
          <p:nvPr/>
        </p:nvSpPr>
        <p:spPr>
          <a:xfrm>
            <a:off x="8897267" y="2952907"/>
            <a:ext cx="3120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Установка антивируса </a:t>
            </a:r>
            <a:r>
              <a:rPr lang="en-US" dirty="0" err="1"/>
              <a:t>ClamAV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87BCB1-809E-68F5-A0D1-A074BE43F39E}"/>
              </a:ext>
            </a:extLst>
          </p:cNvPr>
          <p:cNvSpPr txBox="1"/>
          <p:nvPr/>
        </p:nvSpPr>
        <p:spPr>
          <a:xfrm>
            <a:off x="7986319" y="6306304"/>
            <a:ext cx="3956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Добавление роли </a:t>
            </a:r>
            <a:r>
              <a:rPr lang="en-US" sz="2000" dirty="0"/>
              <a:t>Active Directory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74307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6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100"/>
                            </p:stCondLst>
                            <p:childTnLst>
                              <p:par>
                                <p:cTn id="4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2533F3-FDAF-B368-EDF2-01B592B19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800" dirty="0"/>
              <a:t>Установить предложенное программное обеспечение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DB8D1FF-638B-97E9-B907-5C4FEB1E1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32" y="2084832"/>
            <a:ext cx="4295361" cy="256801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3BDF492-8182-19B2-8F07-7CA9C53F2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1552" y="4497021"/>
            <a:ext cx="3380566" cy="226254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28CCDCE-17F7-5906-FCB5-EDB794987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9678" y="2084832"/>
            <a:ext cx="4043690" cy="24121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1178EB-EBBC-4FFB-E517-2C270C4EA999}"/>
              </a:ext>
            </a:extLst>
          </p:cNvPr>
          <p:cNvSpPr txBox="1"/>
          <p:nvPr/>
        </p:nvSpPr>
        <p:spPr>
          <a:xfrm>
            <a:off x="128632" y="4652850"/>
            <a:ext cx="4295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Браузер </a:t>
            </a:r>
            <a:r>
              <a:rPr lang="en-US" sz="2000" dirty="0"/>
              <a:t>Firefox</a:t>
            </a:r>
            <a:endParaRPr lang="ru-RU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053B6B-707B-5B30-B0C7-348C922F8F68}"/>
              </a:ext>
            </a:extLst>
          </p:cNvPr>
          <p:cNvSpPr txBox="1"/>
          <p:nvPr/>
        </p:nvSpPr>
        <p:spPr>
          <a:xfrm>
            <a:off x="4531552" y="3789135"/>
            <a:ext cx="33805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Программа для просмотра изображений </a:t>
            </a:r>
            <a:r>
              <a:rPr lang="en-US" sz="2000" dirty="0" err="1"/>
              <a:t>IrfanView</a:t>
            </a:r>
            <a:endParaRPr lang="ru-RU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FDB577-1853-FC93-3FF3-C847F9F7D686}"/>
              </a:ext>
            </a:extLst>
          </p:cNvPr>
          <p:cNvSpPr txBox="1"/>
          <p:nvPr/>
        </p:nvSpPr>
        <p:spPr>
          <a:xfrm>
            <a:off x="8019677" y="4510759"/>
            <a:ext cx="40436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Файловый менеджер </a:t>
            </a:r>
            <a:r>
              <a:rPr lang="en-US" sz="2000" dirty="0"/>
              <a:t>Total Commander</a:t>
            </a:r>
            <a:r>
              <a:rPr lang="ru-RU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723171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4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9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98" tmFilter="0, 0; 0.125,0.2665; 0.25,0.4; 0.375,0.465; 0.5,0.5;  0.625,0.535; 0.75,0.6; 0.875,0.7335; 1,1">
                                          <p:stCondLst>
                                            <p:cond delay="39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99" tmFilter="0, 0; 0.125,0.2665; 0.25,0.4; 0.375,0.465; 0.5,0.5;  0.625,0.535; 0.75,0.6; 0.875,0.7335; 1,1">
                                          <p:stCondLst>
                                            <p:cond delay="79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8" tmFilter="0, 0; 0.125,0.2665; 0.25,0.4; 0.375,0.465; 0.5,0.5;  0.625,0.535; 0.75,0.6; 0.875,0.7335; 1,1">
                                          <p:stCondLst>
                                            <p:cond delay="99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6">
                                          <p:stCondLst>
                                            <p:cond delay="39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00" decel="50000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6">
                                          <p:stCondLst>
                                            <p:cond delay="787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00" decel="50000">
                                          <p:stCondLst>
                                            <p:cond delay="803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6">
                                          <p:stCondLst>
                                            <p:cond delay="98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00" decel="50000">
                                          <p:stCondLst>
                                            <p:cond delay="1001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6">
                                          <p:stCondLst>
                                            <p:cond delay="108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00" decel="50000">
                                          <p:stCondLst>
                                            <p:cond delay="11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00"/>
                            </p:stCondLst>
                            <p:childTnLst>
                              <p:par>
                                <p:cTn id="26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8" dur="1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900"/>
                            </p:stCondLst>
                            <p:childTnLst>
                              <p:par>
                                <p:cTn id="3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400"/>
                            </p:stCondLst>
                            <p:childTnLst>
                              <p:par>
                                <p:cTn id="3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900"/>
                            </p:stCondLst>
                            <p:childTnLst>
                              <p:par>
                                <p:cTn id="3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F58F0BF-CA73-3F1F-35B3-0746F4BA4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11047630" cy="1499616"/>
          </a:xfrm>
        </p:spPr>
        <p:txBody>
          <a:bodyPr>
            <a:normAutofit/>
          </a:bodyPr>
          <a:lstStyle/>
          <a:p>
            <a:r>
              <a:rPr lang="ru-RU" sz="4400" dirty="0"/>
              <a:t>Обеспечить доступ различным категориям пользователей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A58F38-F0A3-AA04-C2EE-CAAE42E0A030}"/>
              </a:ext>
            </a:extLst>
          </p:cNvPr>
          <p:cNvSpPr txBox="1"/>
          <p:nvPr/>
        </p:nvSpPr>
        <p:spPr>
          <a:xfrm>
            <a:off x="329268" y="2084832"/>
            <a:ext cx="68517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Для разграничения доступа в системе были созданы две учётные записи: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Администратор – обладает полными правами в системе.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Оператор – обычный пользователь с ограниченными правами.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0CCBB6A-1F77-EE9C-3E11-E1F5D63F29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" t="486"/>
          <a:stretch/>
        </p:blipFill>
        <p:spPr>
          <a:xfrm>
            <a:off x="7251476" y="2084832"/>
            <a:ext cx="4737031" cy="28311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7C4FDBA-FC86-3203-9BF4-F5A52855F285}"/>
              </a:ext>
            </a:extLst>
          </p:cNvPr>
          <p:cNvSpPr txBox="1"/>
          <p:nvPr/>
        </p:nvSpPr>
        <p:spPr>
          <a:xfrm>
            <a:off x="7251475" y="5045393"/>
            <a:ext cx="47370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Создание пользователей в оснастке «Локальные пользователи и группы»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8934B45-E502-63AD-359B-EC41CFEED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268" y="3429000"/>
            <a:ext cx="2757881" cy="323278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F9B9F6F-644E-194E-6F9A-AB71C4E78E06}"/>
              </a:ext>
            </a:extLst>
          </p:cNvPr>
          <p:cNvSpPr txBox="1"/>
          <p:nvPr/>
        </p:nvSpPr>
        <p:spPr>
          <a:xfrm>
            <a:off x="3087149" y="5333947"/>
            <a:ext cx="32504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Настройка прав доступа пользователя Администратор для папки с программой</a:t>
            </a:r>
          </a:p>
        </p:txBody>
      </p:sp>
    </p:spTree>
    <p:extLst>
      <p:ext uri="{BB962C8B-B14F-4D97-AF65-F5344CB8AC3E}">
        <p14:creationId xmlns:p14="http://schemas.microsoft.com/office/powerpoint/2010/main" val="37990413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15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8323F8-0452-EA1F-CC6E-90CE12BD9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dirty="0"/>
              <a:t>Найти ПО с открытым кодом и выполнить его сборку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BD2FFE0-7B96-8660-3E41-C3D493DFC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93" y="1969854"/>
            <a:ext cx="7952762" cy="47633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13BE23-E269-2E22-D543-096EF5607847}"/>
              </a:ext>
            </a:extLst>
          </p:cNvPr>
          <p:cNvSpPr txBox="1"/>
          <p:nvPr/>
        </p:nvSpPr>
        <p:spPr>
          <a:xfrm>
            <a:off x="8389662" y="1879410"/>
            <a:ext cx="36184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Visual Studio </a:t>
            </a:r>
            <a:r>
              <a:rPr lang="ru-RU" sz="2000" dirty="0"/>
              <a:t>с проектом </a:t>
            </a:r>
            <a:r>
              <a:rPr lang="en-US" sz="2000" dirty="0"/>
              <a:t>Notepad++ </a:t>
            </a:r>
            <a:r>
              <a:rPr lang="ru-RU" sz="2000" dirty="0"/>
              <a:t>и собранная из исходного кода программа </a:t>
            </a:r>
          </a:p>
        </p:txBody>
      </p:sp>
    </p:spTree>
    <p:extLst>
      <p:ext uri="{BB962C8B-B14F-4D97-AF65-F5344CB8AC3E}">
        <p14:creationId xmlns:p14="http://schemas.microsoft.com/office/powerpoint/2010/main" val="34366726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5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8323F8-0452-EA1F-CC6E-90CE12BD9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11167872" cy="1499616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Проконтролировать качество функционирования программного обеспечения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9F5D52-550B-A5C1-FC35-803D190F0CD7}"/>
              </a:ext>
            </a:extLst>
          </p:cNvPr>
          <p:cNvSpPr txBox="1"/>
          <p:nvPr/>
        </p:nvSpPr>
        <p:spPr>
          <a:xfrm>
            <a:off x="262156" y="2166743"/>
            <a:ext cx="655809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Для контроля качества использовались встроенные средства операционной системы и самих приложений: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Диспетчер задач Windows – отсутствие зависших процессов свидетельствует о стабильной работе.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Средство проверки системных файлов (SFC) – не обнаружило повреждённых системных файлов.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Журнал событий Windows –отсутствие критических ошибок, связанных с установленным ПО.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Встроенные средства Active Directory – корректность создания организационных единиц, пользователей и групп. </a:t>
            </a:r>
          </a:p>
          <a:p>
            <a:r>
              <a:rPr lang="ru-RU" dirty="0"/>
              <a:t>Также: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Обеспечена совместимость компонент с ранее установленными программными продуктами.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Реализована защита программного обеспечения на требуемом уровне.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Проведено тестирование программного обеспечения.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42B58F7-4F8D-9DA4-0874-4938400F9C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3" t="890" r="577" b="811"/>
          <a:stretch/>
        </p:blipFill>
        <p:spPr>
          <a:xfrm>
            <a:off x="6819755" y="1599093"/>
            <a:ext cx="2981136" cy="25166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30004AA-6F11-AC8C-1205-0A0E95A1CB28}"/>
              </a:ext>
            </a:extLst>
          </p:cNvPr>
          <p:cNvSpPr txBox="1"/>
          <p:nvPr/>
        </p:nvSpPr>
        <p:spPr>
          <a:xfrm>
            <a:off x="9874531" y="1579111"/>
            <a:ext cx="22438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Просмотр процессов в диспетчере задач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25A7F1-1FA3-789D-7A14-478B41BB1461}"/>
              </a:ext>
            </a:extLst>
          </p:cNvPr>
          <p:cNvSpPr txBox="1"/>
          <p:nvPr/>
        </p:nvSpPr>
        <p:spPr>
          <a:xfrm>
            <a:off x="6947821" y="4287909"/>
            <a:ext cx="247127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dirty="0"/>
              <a:t>Отключение учетной записи «Гость» в рамках настройки политик безопасности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E64A712-677E-86D9-8854-DC9835035D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8" t="1391" r="1029"/>
          <a:stretch/>
        </p:blipFill>
        <p:spPr>
          <a:xfrm>
            <a:off x="9546672" y="3880529"/>
            <a:ext cx="2533475" cy="28459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14544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500"/>
                            </p:stCondLst>
                            <p:childTnLst>
                              <p:par>
                                <p:cTn id="5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16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8323F8-0452-EA1F-CC6E-90CE12BD9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11167872" cy="1499616"/>
          </a:xfrm>
        </p:spPr>
        <p:txBody>
          <a:bodyPr>
            <a:normAutofit/>
          </a:bodyPr>
          <a:lstStyle/>
          <a:p>
            <a:r>
              <a:rPr lang="ru-RU" sz="4400" dirty="0"/>
              <a:t>Предложить варианты модификации программного обеспечения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39E887-A425-1E74-F776-F8B579FC695D}"/>
              </a:ext>
            </a:extLst>
          </p:cNvPr>
          <p:cNvSpPr txBox="1"/>
          <p:nvPr/>
        </p:nvSpPr>
        <p:spPr>
          <a:xfrm>
            <a:off x="253068" y="2319082"/>
            <a:ext cx="1168586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На основе анализа условий эксплуатации и выполненной работы предложены следующие варианты модификации: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Для </a:t>
            </a:r>
            <a:r>
              <a:rPr lang="ru-RU" sz="2000" b="1" dirty="0" err="1"/>
              <a:t>Moodle</a:t>
            </a:r>
            <a:r>
              <a:rPr lang="ru-RU" sz="2000" dirty="0"/>
              <a:t>: Добавить плагины для интеграции с 1С.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Для веб-сервера </a:t>
            </a:r>
            <a:r>
              <a:rPr lang="ru-RU" sz="2000" b="1" dirty="0" err="1"/>
              <a:t>Laragon</a:t>
            </a:r>
            <a:r>
              <a:rPr lang="ru-RU" sz="2000" dirty="0"/>
              <a:t>: Перейти на HTTPS и настроить автоматический бэкап баз данных.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Для 1С:Предприятие</a:t>
            </a:r>
            <a:r>
              <a:rPr lang="ru-RU" sz="2000" dirty="0"/>
              <a:t>: Разработать внешнюю обработку для выгрузки отчётов в веб-интерфейс </a:t>
            </a:r>
            <a:r>
              <a:rPr lang="ru-RU" sz="2000" dirty="0" err="1"/>
              <a:t>WordPress</a:t>
            </a:r>
            <a:r>
              <a:rPr lang="ru-RU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Для </a:t>
            </a:r>
            <a:r>
              <a:rPr lang="ru-RU" sz="2000" b="1" dirty="0" err="1"/>
              <a:t>ClamAV</a:t>
            </a:r>
            <a:r>
              <a:rPr lang="ru-RU" sz="2000" dirty="0"/>
              <a:t>: Настроить автоматическое сканирование по расписанию и отправку отчётов на почту администратора.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Для системы контроля версий</a:t>
            </a:r>
            <a:r>
              <a:rPr lang="ru-RU" sz="2000" dirty="0"/>
              <a:t>: Внедрить </a:t>
            </a:r>
            <a:r>
              <a:rPr lang="ru-RU" sz="2000" dirty="0" err="1"/>
              <a:t>Git</a:t>
            </a:r>
            <a:r>
              <a:rPr lang="ru-RU" sz="2000" dirty="0"/>
              <a:t>-репозиторий для хранения конфигурационных файлов веб-сервера и скриптов автоматизации.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Для Active Directory</a:t>
            </a:r>
            <a:r>
              <a:rPr lang="ru-RU" sz="2000" dirty="0"/>
              <a:t>: Внедрить групповые политики для автоматического назначения сетевых дисков и принтеров.</a:t>
            </a:r>
          </a:p>
          <a:p>
            <a:r>
              <a:rPr lang="ru-RU" sz="2000" dirty="0"/>
              <a:t>Эти модификации повысят функциональность, безопасность и удобство сопровождения.</a:t>
            </a:r>
          </a:p>
        </p:txBody>
      </p:sp>
    </p:spTree>
    <p:extLst>
      <p:ext uri="{BB962C8B-B14F-4D97-AF65-F5344CB8AC3E}">
        <p14:creationId xmlns:p14="http://schemas.microsoft.com/office/powerpoint/2010/main" val="347307675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D56848-F275-098D-D625-23EC7FF89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46B166-114E-9E02-58A8-7C48F5105FA1}"/>
              </a:ext>
            </a:extLst>
          </p:cNvPr>
          <p:cNvSpPr txBox="1"/>
          <p:nvPr/>
        </p:nvSpPr>
        <p:spPr>
          <a:xfrm>
            <a:off x="234891" y="1925441"/>
            <a:ext cx="1169425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В ходе производственной практики были полностью выполнены поставленные задачи: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Установлено и настроено необходимое программное обеспечение (</a:t>
            </a:r>
            <a:r>
              <a:rPr lang="ru-RU" sz="2000" dirty="0" err="1"/>
              <a:t>Moodle</a:t>
            </a:r>
            <a:r>
              <a:rPr lang="ru-RU" sz="2000" dirty="0"/>
              <a:t>, </a:t>
            </a:r>
            <a:r>
              <a:rPr lang="ru-RU" sz="2000" dirty="0" err="1"/>
              <a:t>WordPress</a:t>
            </a:r>
            <a:r>
              <a:rPr lang="ru-RU" sz="2000" dirty="0"/>
              <a:t>, 1С:Предприятие, </a:t>
            </a:r>
            <a:r>
              <a:rPr lang="ru-RU" sz="2000" dirty="0" err="1"/>
              <a:t>ClamAV</a:t>
            </a:r>
            <a:r>
              <a:rPr lang="ru-RU" sz="2000" dirty="0"/>
              <a:t>, </a:t>
            </a:r>
            <a:r>
              <a:rPr lang="ru-RU" sz="2000" dirty="0" err="1"/>
              <a:t>Laragon</a:t>
            </a:r>
            <a:r>
              <a:rPr lang="ru-RU" sz="2000" dirty="0"/>
              <a:t>, дополнительное ПО).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Проведена сборка программы с открытым кодом (Notepad++ из исходников).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Выполнена установка роли Active Directory.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Обеспечено разграничение доступа для различных категорий пользователей путём настройки прав файловой системы и создания учётных записей.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Реализована защита программного обеспечения.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Выполнено тестирование работоспособности и совместимости программного обеспечения.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Предложены варианты модификации программного обеспечения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Написано руководство оператора для программы </a:t>
            </a:r>
            <a:r>
              <a:rPr lang="en-US" sz="2000" dirty="0" err="1"/>
              <a:t>IrfanView</a:t>
            </a:r>
            <a:r>
              <a:rPr lang="ru-RU" sz="2000" dirty="0"/>
              <a:t>.</a:t>
            </a:r>
          </a:p>
          <a:p>
            <a:r>
              <a:rPr lang="ru-RU" sz="2000" dirty="0"/>
              <a:t>Все результаты сохранены в системе контроля версий </a:t>
            </a:r>
            <a:r>
              <a:rPr lang="ru-RU" sz="2000" dirty="0" err="1"/>
              <a:t>Git</a:t>
            </a:r>
            <a:r>
              <a:rPr lang="ru-RU" sz="20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273B9C-2B6D-5316-668E-6940EBDE7166}"/>
              </a:ext>
            </a:extLst>
          </p:cNvPr>
          <p:cNvSpPr txBox="1"/>
          <p:nvPr/>
        </p:nvSpPr>
        <p:spPr>
          <a:xfrm>
            <a:off x="0" y="6018869"/>
            <a:ext cx="12191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/>
              <a:t>Репозиторий с файлами практики - </a:t>
            </a:r>
            <a:r>
              <a:rPr lang="en-US" sz="2400" b="1" dirty="0"/>
              <a:t>https://github.com/ScioSilentium13/PM</a:t>
            </a:r>
            <a:r>
              <a:rPr lang="ru-RU" sz="2400" b="1" dirty="0"/>
              <a:t>04</a:t>
            </a:r>
            <a:r>
              <a:rPr lang="en-US" sz="2400" b="1" dirty="0"/>
              <a:t>_PrPr_2026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389891009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0CB0BB-8DFA-A444-ADCE-B52C90C9F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1"/>
                </a:solidFill>
              </a:rPr>
              <a:t>Спасибо ЗА ВНИМАНИЕ! </a:t>
            </a:r>
          </a:p>
        </p:txBody>
      </p:sp>
    </p:spTree>
    <p:extLst>
      <p:ext uri="{BB962C8B-B14F-4D97-AF65-F5344CB8AC3E}">
        <p14:creationId xmlns:p14="http://schemas.microsoft.com/office/powerpoint/2010/main" val="134565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9" presetClass="emph" presetSubtype="0" fill="hold" grpId="3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7" dur="6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C00B4"/>
                                      </p:to>
                                    </p:animClr>
                                    <p:animClr clrSpc="rgb" dir="cw">
                                      <p:cBhvr>
                                        <p:cTn id="28" dur="6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C00B4"/>
                                      </p:to>
                                    </p:animClr>
                                    <p:set>
                                      <p:cBhvr>
                                        <p:cTn id="29" dur="6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6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2" grpId="2"/>
      <p:bldP spid="2" grpId="3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нтеграл">
  <a:themeElements>
    <a:clrScheme name="Интеграл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Интеграл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Интеграл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475</TotalTime>
  <Words>640</Words>
  <Application>Microsoft Office PowerPoint</Application>
  <PresentationFormat>Широкоэкранный</PresentationFormat>
  <Paragraphs>71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Aptos</vt:lpstr>
      <vt:lpstr>Arial</vt:lpstr>
      <vt:lpstr>Calibri</vt:lpstr>
      <vt:lpstr>Times New Roman</vt:lpstr>
      <vt:lpstr>Tw Cen MT</vt:lpstr>
      <vt:lpstr>Tw Cen MT Condensed</vt:lpstr>
      <vt:lpstr>Wingdings 3</vt:lpstr>
      <vt:lpstr>Интеграл</vt:lpstr>
      <vt:lpstr>Производственная практика Пестов Арсений Николаевич</vt:lpstr>
      <vt:lpstr>Характеристика объекта практики</vt:lpstr>
      <vt:lpstr>Установить предложенное программное обеспечение</vt:lpstr>
      <vt:lpstr>Установить предложенное программное обеспечение</vt:lpstr>
      <vt:lpstr>Установить предложенное программное обеспечение</vt:lpstr>
      <vt:lpstr>Установить предложенное программное обеспечение</vt:lpstr>
      <vt:lpstr>Обеспечить доступ различным категориям пользователей</vt:lpstr>
      <vt:lpstr>Найти ПО с открытым кодом и выполнить его сборку</vt:lpstr>
      <vt:lpstr>Проконтролировать качество функционирования программного обеспечения</vt:lpstr>
      <vt:lpstr>Предложить варианты модификации программного обеспечения</vt:lpstr>
      <vt:lpstr>Заключение</vt:lpstr>
      <vt:lpstr>Спасибо ЗА ВНИМАНИЕ!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156</cp:revision>
  <dcterms:created xsi:type="dcterms:W3CDTF">2026-04-21T08:25:52Z</dcterms:created>
  <dcterms:modified xsi:type="dcterms:W3CDTF">2026-06-14T14:29:09Z</dcterms:modified>
</cp:coreProperties>
</file>